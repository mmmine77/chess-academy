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7"/>
  </p:notesMasterIdLst>
  <p:sldIdLst>
    <p:sldId id="262" r:id="rId2"/>
    <p:sldId id="265" r:id="rId3"/>
    <p:sldId id="266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162" y="-23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A5DCBF-5240-4904-BD32-72BB560EEECB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AB44A-BE07-40AD-B7B4-DBD10FED5A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7397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="" xmlns:a16="http://schemas.microsoft.com/office/drawing/2014/main" id="{76609C33-D605-6146-1378-F67C572F05C1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=""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417320"/>
            <a:ext cx="78867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6044184"/>
            <a:ext cx="6858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6DDC5B68-548C-395D-B9A9-EA694F6CB59F}"/>
              </a:ext>
            </a:extLst>
          </p:cNvPr>
          <p:cNvSpPr/>
          <p:nvPr/>
        </p:nvSpPr>
        <p:spPr>
          <a:xfrm>
            <a:off x="4418412" y="5628222"/>
            <a:ext cx="307181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="" xmlns:a16="http://schemas.microsoft.com/office/drawing/2014/main" id="{F738F023-8BDF-71DB-D6AB-776F7C6413B2}"/>
              </a:ext>
            </a:extLst>
          </p:cNvPr>
          <p:cNvSpPr/>
          <p:nvPr/>
        </p:nvSpPr>
        <p:spPr>
          <a:xfrm>
            <a:off x="6457950" y="0"/>
            <a:ext cx="268605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1097280"/>
            <a:ext cx="30861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3566160"/>
            <a:ext cx="30861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=""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65676" y="1435608"/>
            <a:ext cx="442341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0BE8F9-7FB6-48D9-941E-585FA1C8C28D}" type="slidenum">
              <a:rPr lang="ru-RU" smtClean="0"/>
              <a:t>‹#›</a:t>
            </a:fld>
            <a:endParaRPr lang="ru-RU"/>
          </a:p>
        </p:txBody>
      </p: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323EB7E3-3953-BAB4-1B15-383082C6C31E}"/>
              </a:ext>
            </a:extLst>
          </p:cNvPr>
          <p:cNvCxnSpPr>
            <a:cxnSpLocks/>
          </p:cNvCxnSpPr>
          <p:nvPr/>
        </p:nvCxnSpPr>
        <p:spPr>
          <a:xfrm>
            <a:off x="971550" y="822960"/>
            <a:ext cx="30861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2697480"/>
            <a:ext cx="78867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6044184"/>
            <a:ext cx="78867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=""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1714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103AD4F0-8C4C-FC68-2450-06419A6D0131}"/>
              </a:ext>
            </a:extLst>
          </p:cNvPr>
          <p:cNvSpPr/>
          <p:nvPr/>
        </p:nvSpPr>
        <p:spPr>
          <a:xfrm>
            <a:off x="4418412" y="5628222"/>
            <a:ext cx="307181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="" xmlns:a16="http://schemas.microsoft.com/office/drawing/2014/main" id="{A510974D-B222-2876-052D-21F0E075D288}"/>
              </a:ext>
            </a:extLst>
          </p:cNvPr>
          <p:cNvSpPr/>
          <p:nvPr/>
        </p:nvSpPr>
        <p:spPr>
          <a:xfrm>
            <a:off x="0" y="0"/>
            <a:ext cx="9144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3806" y="1143000"/>
            <a:ext cx="768096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6766" y="3803904"/>
            <a:ext cx="603504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8A1A471A-8A28-B00F-72E9-849D5E6B7257}"/>
              </a:ext>
            </a:extLst>
          </p:cNvPr>
          <p:cNvSpPr/>
          <p:nvPr/>
        </p:nvSpPr>
        <p:spPr>
          <a:xfrm>
            <a:off x="4418412" y="5628222"/>
            <a:ext cx="307181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93BB82FF-5339-5456-4D30-0C2DA7907AAE}"/>
              </a:ext>
            </a:extLst>
          </p:cNvPr>
          <p:cNvSpPr/>
          <p:nvPr/>
        </p:nvSpPr>
        <p:spPr>
          <a:xfrm>
            <a:off x="0" y="0"/>
            <a:ext cx="267462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5072" y="1097280"/>
            <a:ext cx="466344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=""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3836" y="1828800"/>
            <a:ext cx="24003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5072" y="3429000"/>
            <a:ext cx="466344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D17F99EA-AB5F-24F3-D971-2B9BDE3B4F3C}"/>
              </a:ext>
            </a:extLst>
          </p:cNvPr>
          <p:cNvSpPr txBox="1"/>
          <p:nvPr/>
        </p:nvSpPr>
        <p:spPr>
          <a:xfrm>
            <a:off x="481381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0BE8F9-7FB6-48D9-941E-585FA1C8C28D}" type="slidenum">
              <a:rPr lang="ru-RU" smtClean="0"/>
              <a:t>‹#›</a:t>
            </a:fld>
            <a:endParaRPr lang="ru-RU"/>
          </a:p>
        </p:txBody>
      </p:sp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ADA4A755-28B6-5A01-94AB-C3CCC4368885}"/>
              </a:ext>
            </a:extLst>
          </p:cNvPr>
          <p:cNvCxnSpPr>
            <a:cxnSpLocks/>
          </p:cNvCxnSpPr>
          <p:nvPr/>
        </p:nvCxnSpPr>
        <p:spPr>
          <a:xfrm>
            <a:off x="4005072" y="822960"/>
            <a:ext cx="30861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=""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43000" y="1481328"/>
            <a:ext cx="6858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8186" y="1920240"/>
            <a:ext cx="61722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CBCF04C-49F6-66E8-41A0-B3C371944EA1}"/>
              </a:ext>
            </a:extLst>
          </p:cNvPr>
          <p:cNvSpPr/>
          <p:nvPr/>
        </p:nvSpPr>
        <p:spPr>
          <a:xfrm>
            <a:off x="5029200" y="0"/>
            <a:ext cx="41148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931920"/>
            <a:ext cx="37719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=""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120" y="548640"/>
            <a:ext cx="226314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4104" y="731520"/>
            <a:ext cx="3230118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E8F9-7FB6-48D9-941E-585FA1C8C28D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>
            <a:extLst>
              <a:ext uri="{FF2B5EF4-FFF2-40B4-BE49-F238E27FC236}">
                <a16:creationId xmlns="" xmlns:a16="http://schemas.microsoft.com/office/drawing/2014/main" id="{C1171EC5-29BE-C106-1E9B-0CBDB598A131}"/>
              </a:ext>
            </a:extLst>
          </p:cNvPr>
          <p:cNvCxnSpPr>
            <a:cxnSpLocks/>
          </p:cNvCxnSpPr>
          <p:nvPr/>
        </p:nvCxnSpPr>
        <p:spPr>
          <a:xfrm>
            <a:off x="973836" y="6111876"/>
            <a:ext cx="30861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1" y="1097280"/>
            <a:ext cx="736646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377440"/>
            <a:ext cx="349758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2020" y="2377440"/>
            <a:ext cx="349758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E8F9-7FB6-48D9-941E-585FA1C8C28D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941554B7-BB36-76F6-DD79-11088AA69E82}"/>
              </a:ext>
            </a:extLst>
          </p:cNvPr>
          <p:cNvCxnSpPr>
            <a:cxnSpLocks/>
          </p:cNvCxnSpPr>
          <p:nvPr/>
        </p:nvCxnSpPr>
        <p:spPr>
          <a:xfrm>
            <a:off x="971550" y="822960"/>
            <a:ext cx="30861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E8F9-7FB6-48D9-941E-585FA1C8C28D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1097280"/>
            <a:ext cx="37719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=""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88636" y="1097280"/>
            <a:ext cx="3429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=""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172968"/>
            <a:ext cx="7557516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="" xmlns:a16="http://schemas.microsoft.com/office/drawing/2014/main" id="{C2041A78-2CBE-4D73-EF5D-E65139C79DC2}"/>
              </a:ext>
            </a:extLst>
          </p:cNvPr>
          <p:cNvCxnSpPr>
            <a:cxnSpLocks/>
          </p:cNvCxnSpPr>
          <p:nvPr/>
        </p:nvCxnSpPr>
        <p:spPr>
          <a:xfrm>
            <a:off x="971550" y="822960"/>
            <a:ext cx="30861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E8F9-7FB6-48D9-941E-585FA1C8C28D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1097280"/>
            <a:ext cx="7365492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=""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377440"/>
            <a:ext cx="3429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=""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70298" y="2377440"/>
            <a:ext cx="3483864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="" xmlns:a16="http://schemas.microsoft.com/office/drawing/2014/main" id="{C2041A78-2CBE-4D73-EF5D-E65139C79DC2}"/>
              </a:ext>
            </a:extLst>
          </p:cNvPr>
          <p:cNvCxnSpPr>
            <a:cxnSpLocks/>
          </p:cNvCxnSpPr>
          <p:nvPr/>
        </p:nvCxnSpPr>
        <p:spPr>
          <a:xfrm>
            <a:off x="971550" y="822960"/>
            <a:ext cx="30861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E8F9-7FB6-48D9-941E-585FA1C8C28D}" type="slidenum">
              <a:rPr lang="ru-RU" smtClean="0"/>
              <a:t>‹#›</a:t>
            </a:fld>
            <a:endParaRPr lang="ru-RU"/>
          </a:p>
        </p:txBody>
      </p:sp>
      <p:sp>
        <p:nvSpPr>
          <p:cNvPr id="3" name="Title 1">
            <a:extLst>
              <a:ext uri="{FF2B5EF4-FFF2-40B4-BE49-F238E27FC236}">
                <a16:creationId xmlns=""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1097280"/>
            <a:ext cx="72009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=""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960120" y="2377440"/>
            <a:ext cx="7214616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smtClean="0"/>
              <a:t>Вставка таблицы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5D612406-06E6-DCE4-7F2F-D98836A802A6}"/>
              </a:ext>
            </a:extLst>
          </p:cNvPr>
          <p:cNvCxnSpPr>
            <a:cxnSpLocks/>
          </p:cNvCxnSpPr>
          <p:nvPr/>
        </p:nvCxnSpPr>
        <p:spPr>
          <a:xfrm>
            <a:off x="971550" y="822960"/>
            <a:ext cx="30861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1" y="1097280"/>
            <a:ext cx="736646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377440"/>
            <a:ext cx="349758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2020" y="2377440"/>
            <a:ext cx="349758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E8F9-7FB6-48D9-941E-585FA1C8C28D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941554B7-BB36-76F6-DD79-11088AA69E82}"/>
              </a:ext>
            </a:extLst>
          </p:cNvPr>
          <p:cNvCxnSpPr>
            <a:cxnSpLocks/>
          </p:cNvCxnSpPr>
          <p:nvPr/>
        </p:nvCxnSpPr>
        <p:spPr>
          <a:xfrm>
            <a:off x="971550" y="822960"/>
            <a:ext cx="30861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=""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3163824"/>
            <a:ext cx="78867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=""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0" y="548640"/>
            <a:ext cx="17145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=""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79576" y="6044184"/>
            <a:ext cx="6837426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7ECE7D81-1954-1B1F-C0AC-21C85AFD3C1E}"/>
              </a:ext>
            </a:extLst>
          </p:cNvPr>
          <p:cNvSpPr/>
          <p:nvPr/>
        </p:nvSpPr>
        <p:spPr>
          <a:xfrm>
            <a:off x="4418412" y="5628222"/>
            <a:ext cx="307181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/>
          <a:lstStyle/>
          <a:p>
            <a:fld id="{DA1B54EC-0F4E-41F2-A03D-24898D015AD1}" type="datetime1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E8F9-7FB6-48D9-941E-585FA1C8C2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6597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1" y="609600"/>
            <a:ext cx="7366466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1" y="1855945"/>
            <a:ext cx="7366466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=""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15468" y="6019801"/>
            <a:ext cx="3429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600BE8F9-7FB6-48D9-941E-585FA1C8C2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5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39552" y="242645"/>
            <a:ext cx="81369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</a:p>
          <a:p>
            <a:pPr algn="ctr"/>
            <a:r>
              <a:rPr lang="ru-RU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Федеральное государственное бюджетное образовательное учреждение</a:t>
            </a:r>
            <a:r>
              <a:rPr 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образования</a:t>
            </a:r>
          </a:p>
          <a:p>
            <a:pPr algn="ctr"/>
            <a:r>
              <a:rPr lang="ru-RU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Амурский государственный университет</a:t>
            </a:r>
          </a:p>
          <a:p>
            <a:pPr algn="ctr"/>
            <a:r>
              <a:rPr lang="ru-RU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(ФГБОУ ВО «</a:t>
            </a:r>
            <a:r>
              <a:rPr lang="ru-RU" sz="14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АмГУ</a:t>
            </a:r>
            <a:r>
              <a:rPr lang="ru-RU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»)</a:t>
            </a:r>
            <a:endParaRPr lang="ru-RU" sz="14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864112" y="2913145"/>
            <a:ext cx="7415776" cy="5878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ctr"/>
            <a:r>
              <a:rPr lang="ru-RU" sz="3200" b="1" spc="0" dirty="0" smtClean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Производственная практика</a:t>
            </a:r>
            <a:endParaRPr lang="ru-RU" sz="3200" b="1" spc="0" dirty="0"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23528" y="5301208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 студентка группы ИС221</a:t>
            </a:r>
          </a:p>
          <a:p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Бурова Екатерина</a:t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</a:t>
            </a:r>
            <a:b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Остроушко Екатерина Алексеевна</a:t>
            </a:r>
            <a:endParaRPr lang="ru-RU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117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755576" y="1582341"/>
            <a:ext cx="7272808" cy="2520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14000"/>
              </a:lnSpc>
            </a:pP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Целью производственной практики является практическое применение и закрепление профессиональных знаний и навыков, полученных в ходе учебного процесса в области веб-разработки. В рамках практики предусмотрено выполнение индивидуального задания по проектированию и разработке веб-приложения «Шахматная академия» для автоматизации деятельности шахматного клуба.</a:t>
            </a:r>
            <a:endParaRPr lang="ru-RU" sz="20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1404696" y="536881"/>
            <a:ext cx="6334608" cy="5878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ctr"/>
            <a:r>
              <a:rPr lang="ru-RU" sz="3200" b="1" spc="0" dirty="0" smtClean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Цели практики</a:t>
            </a:r>
            <a:endParaRPr lang="ru-RU" sz="3200" b="1" spc="0" dirty="0"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8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315468" y="6341194"/>
            <a:ext cx="342900" cy="184150"/>
          </a:xfrm>
        </p:spPr>
        <p:txBody>
          <a:bodyPr/>
          <a:lstStyle/>
          <a:p>
            <a:fld id="{600BE8F9-7FB6-48D9-941E-585FA1C8C28D}" type="slidenum">
              <a:rPr lang="ru-RU" sz="14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fld>
            <a:endParaRPr lang="ru-RU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3926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815280" y="1594535"/>
            <a:ext cx="742912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1. Изучить структуру и деятельность предприятия.</a:t>
            </a:r>
          </a:p>
          <a:p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2. Ознакомиться с используемыми на предприятии технологиями.</a:t>
            </a:r>
          </a:p>
          <a:p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3. Использовать теоретические знания на практике.</a:t>
            </a:r>
          </a:p>
          <a:p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4. Разработать веб–приложение «Шахматная академия»</a:t>
            </a:r>
          </a:p>
          <a:p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5. Протестировать работоспособность приложения, выявить и устранить ошибки.</a:t>
            </a:r>
          </a:p>
          <a:p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6. Систематизация выполненных работ и оформление отчёта по практике.</a:t>
            </a:r>
          </a:p>
        </p:txBody>
      </p:sp>
      <p:sp>
        <p:nvSpPr>
          <p:cNvPr id="9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315468" y="6341194"/>
            <a:ext cx="342900" cy="184150"/>
          </a:xfrm>
        </p:spPr>
        <p:txBody>
          <a:bodyPr/>
          <a:lstStyle/>
          <a:p>
            <a:fld id="{600BE8F9-7FB6-48D9-941E-585FA1C8C28D}" type="slidenum">
              <a:rPr lang="ru-RU" sz="14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fld>
            <a:endParaRPr lang="ru-RU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1404696" y="536881"/>
            <a:ext cx="6334608" cy="5878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ctr"/>
            <a:r>
              <a:rPr lang="ru-RU" sz="3200" b="1" spc="0" dirty="0" smtClean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Задачи</a:t>
            </a:r>
            <a:endParaRPr lang="ru-RU" sz="3200" b="1" spc="0" dirty="0"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3987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E8F9-7FB6-48D9-941E-585FA1C8C28D}" type="slidenum">
              <a:rPr lang="ru-RU" smtClean="0"/>
              <a:t>4</a:t>
            </a:fld>
            <a:endParaRPr lang="ru-RU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Номер слайда 6"/>
          <p:cNvSpPr txBox="1">
            <a:spLocks/>
          </p:cNvSpPr>
          <p:nvPr/>
        </p:nvSpPr>
        <p:spPr>
          <a:xfrm>
            <a:off x="315468" y="6341194"/>
            <a:ext cx="3429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 cap="all" spc="200" baseline="0">
                <a:solidFill>
                  <a:schemeClr val="accent1"/>
                </a:solidFill>
                <a:latin typeface="Posterama" panose="020B0504020200020000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00BE8F9-7FB6-48D9-941E-585FA1C8C28D}" type="slidenum">
              <a:rPr lang="ru-RU" sz="14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pPr/>
              <a:t>4</a:t>
            </a:fld>
            <a:endParaRPr lang="ru-RU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1404696" y="536881"/>
            <a:ext cx="6334608" cy="5878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ctr"/>
            <a:endParaRPr lang="ru-RU" sz="3200" b="1" spc="0" dirty="0"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630934" y="548680"/>
            <a:ext cx="8045522" cy="5878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ctr"/>
            <a:r>
              <a:rPr lang="ru-RU" sz="2800" b="1" spc="0" dirty="0" smtClean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Общие </a:t>
            </a:r>
            <a:r>
              <a:rPr lang="ru-RU" sz="2800" b="1" spc="0" dirty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сведения о </a:t>
            </a:r>
            <a:r>
              <a:rPr lang="ru-RU" sz="2800" b="1" spc="0" dirty="0" smtClean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предприятии</a:t>
            </a:r>
            <a:endParaRPr lang="ru-RU" sz="2800" b="1" spc="0" dirty="0"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815280" y="1594535"/>
            <a:ext cx="742912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/>
            <a:r>
              <a:rPr lang="ru-RU" sz="20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ИП 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Злагода Артем специализируется на комплексном оказании услуг в области веб-разработки, системного администрирования и цифрового продвижения с  2016 года. 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Предприятие работает на рынке IT-услуг, обслуживая широкий круг заказчиков – от индивидуальных предпринимателей и представителей малого бизнеса до средних и крупных коммерческих организаций. </a:t>
            </a:r>
          </a:p>
        </p:txBody>
      </p:sp>
    </p:spTree>
    <p:extLst>
      <p:ext uri="{BB962C8B-B14F-4D97-AF65-F5344CB8AC3E}">
        <p14:creationId xmlns:p14="http://schemas.microsoft.com/office/powerpoint/2010/main" val="1413617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Прямоугольник 17"/>
          <p:cNvSpPr/>
          <p:nvPr/>
        </p:nvSpPr>
        <p:spPr>
          <a:xfrm>
            <a:off x="755576" y="1582341"/>
            <a:ext cx="7272808" cy="3924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14000"/>
              </a:lnSpc>
            </a:pP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В рамках работы с серверной инфраструктурой был выполнен комплекс задач по подготовке и поддержке серверных мощностей. Сконфигурирован </a:t>
            </a:r>
            <a:r>
              <a:rPr lang="ru-RU" sz="20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веб-сервер 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включая настройку виртуальных </a:t>
            </a:r>
            <a:r>
              <a:rPr lang="ru-RU" sz="20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хостов, 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а также развернут программный стек (PHP, </a:t>
            </a:r>
            <a:r>
              <a:rPr lang="ru-RU" sz="2000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MySQL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, Python). Для обеспечения безопасности и отказоустойчивости системы были настроены межсетевой экран, права доступа пользователей, система регулярного резервного копирования и непрерывный мониторинг состояния через анализ журналов событий.</a:t>
            </a:r>
          </a:p>
          <a:p>
            <a:pPr indent="457200">
              <a:lnSpc>
                <a:spcPct val="114000"/>
              </a:lnSpc>
            </a:pP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В области веб-разработки реализован проект по созданию сайта «Шахматная академия».</a:t>
            </a:r>
          </a:p>
        </p:txBody>
      </p:sp>
      <p:sp>
        <p:nvSpPr>
          <p:cNvPr id="19" name="Заголовок 1"/>
          <p:cNvSpPr txBox="1">
            <a:spLocks/>
          </p:cNvSpPr>
          <p:nvPr/>
        </p:nvSpPr>
        <p:spPr>
          <a:xfrm>
            <a:off x="1404696" y="536881"/>
            <a:ext cx="6767704" cy="5878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ctr"/>
            <a:r>
              <a:rPr lang="ru-RU" sz="2800" b="1" spc="0" dirty="0" smtClean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Описание </a:t>
            </a:r>
            <a:r>
              <a:rPr lang="ru-RU" sz="2800" b="1" spc="0" dirty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выполненных работ </a:t>
            </a:r>
            <a:endParaRPr lang="ru-RU" sz="2800" b="1" spc="0" dirty="0"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20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315468" y="6341194"/>
            <a:ext cx="342900" cy="184150"/>
          </a:xfrm>
        </p:spPr>
        <p:txBody>
          <a:bodyPr/>
          <a:lstStyle/>
          <a:p>
            <a:fld id="{600BE8F9-7FB6-48D9-941E-585FA1C8C28D}" type="slidenum">
              <a:rPr lang="ru-RU" sz="14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fld>
            <a:endParaRPr lang="ru-RU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156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E8F9-7FB6-48D9-941E-585FA1C8C28D}" type="slidenum">
              <a:rPr lang="ru-RU" smtClean="0"/>
              <a:t>6</a:t>
            </a:fld>
            <a:endParaRPr lang="ru-RU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Прямоугольник 11"/>
          <p:cNvSpPr/>
          <p:nvPr/>
        </p:nvSpPr>
        <p:spPr>
          <a:xfrm>
            <a:off x="658368" y="1582341"/>
            <a:ext cx="7946080" cy="4653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14000"/>
              </a:lnSpc>
            </a:pP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Python — высокоуровневый язык программирования с динамической типизацией и автоматическим управлением памятью. Его ключевые преимущества — простой синтаксис и обширная экосистема библиотек. В работе Python применялся для реализации серверной логики: обработки HTTP-запросов, взаимодействия с базой данных через ORM и написания представлений (</a:t>
            </a:r>
            <a:r>
              <a:rPr lang="ru-RU" sz="2000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views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), моделей (</a:t>
            </a:r>
            <a:r>
              <a:rPr lang="ru-RU" sz="2000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models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) и форм (</a:t>
            </a:r>
            <a:r>
              <a:rPr lang="ru-RU" sz="2000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forms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).</a:t>
            </a:r>
          </a:p>
          <a:p>
            <a:pPr indent="457200">
              <a:lnSpc>
                <a:spcPct val="114000"/>
              </a:lnSpc>
            </a:pP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Django — веб-</a:t>
            </a:r>
            <a:r>
              <a:rPr lang="ru-RU" sz="2000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фреймворк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 на базе Python, реализующий паттерн MVT (</a:t>
            </a:r>
            <a:r>
              <a:rPr lang="ru-RU" sz="2000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Model-View-Template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). Он предоставляет встроенные механизмы аутентификации, маршрутизацию URL, административную панель и защиту от веб-уязвимостей (CSRF, XSS). Фреймворк использовался как архитектурная основа для построения логики приложения, </a:t>
            </a:r>
            <a:r>
              <a:rPr lang="ru-RU" sz="2000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валидации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 данных и управления контентом.</a:t>
            </a:r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658368" y="536881"/>
            <a:ext cx="7946080" cy="5878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ctr"/>
            <a:r>
              <a:rPr lang="ru-RU" sz="2800" b="1" spc="0" dirty="0" smtClean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Анализ </a:t>
            </a:r>
            <a:r>
              <a:rPr lang="ru-RU" sz="2800" b="1" spc="0" dirty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программного обеспечения</a:t>
            </a:r>
            <a:endParaRPr lang="ru-RU" sz="2800" b="1" spc="0" dirty="0"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14" name="Номер слайда 6"/>
          <p:cNvSpPr txBox="1">
            <a:spLocks/>
          </p:cNvSpPr>
          <p:nvPr/>
        </p:nvSpPr>
        <p:spPr>
          <a:xfrm>
            <a:off x="315468" y="6341194"/>
            <a:ext cx="3429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 cap="all" spc="200" baseline="0">
                <a:solidFill>
                  <a:schemeClr val="accent1"/>
                </a:solidFill>
                <a:latin typeface="Posterama" panose="020B0504020200020000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00BE8F9-7FB6-48D9-941E-585FA1C8C28D}" type="slidenum">
              <a:rPr lang="ru-RU" sz="14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pPr/>
              <a:t>6</a:t>
            </a:fld>
            <a:endParaRPr lang="ru-RU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28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815280" y="1594535"/>
            <a:ext cx="742912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Индивидуальным заданием являлась разработка веб-приложения «Шахматная академия», предназначенного для автоматизации деятельности шахматного клуба, организации турниров и образовательного процесса.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315468" y="6341194"/>
            <a:ext cx="342900" cy="184150"/>
          </a:xfrm>
        </p:spPr>
        <p:txBody>
          <a:bodyPr/>
          <a:lstStyle/>
          <a:p>
            <a:fld id="{600BE8F9-7FB6-48D9-941E-585FA1C8C28D}" type="slidenum">
              <a:rPr lang="ru-RU" sz="14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7</a:t>
            </a:fld>
            <a:endParaRPr lang="ru-RU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1404696" y="536881"/>
            <a:ext cx="6334608" cy="5878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ctr"/>
            <a:r>
              <a:rPr lang="ru-RU" sz="3200" b="1" spc="0" dirty="0" smtClean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ИНДИВИДУАЛЬНОЕ </a:t>
            </a:r>
            <a:r>
              <a:rPr lang="ru-RU" sz="3200" b="1" spc="0" dirty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ЗАДАНИЕ</a:t>
            </a:r>
            <a:endParaRPr lang="ru-RU" sz="3200" b="1" spc="0" dirty="0"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51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E8F9-7FB6-48D9-941E-585FA1C8C28D}" type="slidenum">
              <a:rPr lang="ru-RU" smtClean="0"/>
              <a:t>8</a:t>
            </a:fld>
            <a:endParaRPr lang="ru-RU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755576" y="1582341"/>
            <a:ext cx="7272808" cy="2548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14000"/>
              </a:lnSpc>
            </a:pP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1. Провести анализ шахматных платформ и сформулировать требования к разрабатываемому приложению.</a:t>
            </a:r>
          </a:p>
          <a:p>
            <a:pPr indent="457200">
              <a:lnSpc>
                <a:spcPct val="114000"/>
              </a:lnSpc>
            </a:pP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2. Спроектировать архитектуру веб-приложения.</a:t>
            </a:r>
          </a:p>
          <a:p>
            <a:pPr indent="457200">
              <a:lnSpc>
                <a:spcPct val="114000"/>
              </a:lnSpc>
            </a:pP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3. Разработать систему регистрации и авторизации пользователей с разделением ролей.</a:t>
            </a:r>
          </a:p>
          <a:p>
            <a:pPr indent="457200">
              <a:lnSpc>
                <a:spcPct val="114000"/>
              </a:lnSpc>
            </a:pPr>
            <a:r>
              <a:rPr lang="ru-RU" sz="20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4. 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Создать модуль управления турнирами</a:t>
            </a:r>
            <a:r>
              <a:rPr lang="ru-RU" sz="20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.</a:t>
            </a:r>
          </a:p>
          <a:p>
            <a:pPr indent="457200">
              <a:lnSpc>
                <a:spcPct val="114000"/>
              </a:lnSpc>
            </a:pPr>
            <a:endParaRPr lang="ru-RU" sz="20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1404696" y="536881"/>
            <a:ext cx="6334608" cy="5878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ctr"/>
            <a:r>
              <a:rPr lang="ru-RU" sz="3200" b="1" spc="0" dirty="0" smtClean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Задачи</a:t>
            </a:r>
            <a:endParaRPr lang="ru-RU" sz="3200" b="1" spc="0" dirty="0"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8" name="Номер слайда 6"/>
          <p:cNvSpPr txBox="1">
            <a:spLocks/>
          </p:cNvSpPr>
          <p:nvPr/>
        </p:nvSpPr>
        <p:spPr>
          <a:xfrm>
            <a:off x="315468" y="6341194"/>
            <a:ext cx="3429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 cap="all" spc="200" baseline="0">
                <a:solidFill>
                  <a:schemeClr val="accent1"/>
                </a:solidFill>
                <a:latin typeface="Posterama" panose="020B0504020200020000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00BE8F9-7FB6-48D9-941E-585FA1C8C28D}" type="slidenum">
              <a:rPr lang="ru-RU" sz="14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pPr/>
              <a:t>8</a:t>
            </a:fld>
            <a:endParaRPr lang="ru-RU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3220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E8F9-7FB6-48D9-941E-585FA1C8C28D}" type="slidenum">
              <a:rPr lang="ru-RU" smtClean="0"/>
              <a:t>9</a:t>
            </a:fld>
            <a:endParaRPr lang="ru-RU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755576" y="1582341"/>
            <a:ext cx="7272808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14000"/>
              </a:lnSpc>
            </a:pP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1. регистрация и авторизация с разделением ролей </a:t>
            </a:r>
          </a:p>
          <a:p>
            <a:pPr indent="457200">
              <a:lnSpc>
                <a:spcPct val="114000"/>
              </a:lnSpc>
            </a:pP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2. личный кабинет </a:t>
            </a:r>
          </a:p>
          <a:p>
            <a:pPr indent="457200">
              <a:lnSpc>
                <a:spcPct val="114000"/>
              </a:lnSpc>
            </a:pP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3. управление турнирами </a:t>
            </a:r>
          </a:p>
          <a:p>
            <a:pPr indent="457200">
              <a:lnSpc>
                <a:spcPct val="114000"/>
              </a:lnSpc>
            </a:pPr>
            <a:r>
              <a:rPr lang="ru-RU" sz="20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4. 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чат с </a:t>
            </a:r>
            <a:r>
              <a:rPr lang="ru-RU" sz="20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администратором</a:t>
            </a:r>
            <a:endParaRPr lang="ru-RU" sz="20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  <a:p>
            <a:pPr indent="457200">
              <a:lnSpc>
                <a:spcPct val="114000"/>
              </a:lnSpc>
            </a:pPr>
            <a:r>
              <a:rPr lang="ru-RU" sz="20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5. 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образовательный модуль (тренеры, уроки</a:t>
            </a:r>
            <a:r>
              <a:rPr lang="ru-RU" sz="20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)</a:t>
            </a:r>
            <a:endParaRPr lang="ru-RU" sz="20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899592" y="536881"/>
            <a:ext cx="7416824" cy="5878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ctr"/>
            <a:r>
              <a:rPr lang="ru-RU" sz="2800" b="1" spc="0" dirty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функциональные требования </a:t>
            </a:r>
            <a:endParaRPr lang="ru-RU" sz="2800" b="1" spc="0" dirty="0"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8" name="Номер слайда 6"/>
          <p:cNvSpPr txBox="1">
            <a:spLocks/>
          </p:cNvSpPr>
          <p:nvPr/>
        </p:nvSpPr>
        <p:spPr>
          <a:xfrm>
            <a:off x="315468" y="6341194"/>
            <a:ext cx="3429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 cap="all" spc="200" baseline="0">
                <a:solidFill>
                  <a:schemeClr val="accent1"/>
                </a:solidFill>
                <a:latin typeface="Posterama" panose="020B0504020200020000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00BE8F9-7FB6-48D9-941E-585FA1C8C28D}" type="slidenum">
              <a:rPr lang="ru-RU" sz="14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pPr/>
              <a:t>9</a:t>
            </a:fld>
            <a:endParaRPr lang="ru-RU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659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BE8F9-7FB6-48D9-941E-585FA1C8C28D}" type="slidenum">
              <a:rPr lang="ru-RU" smtClean="0"/>
              <a:t>10</a:t>
            </a:fld>
            <a:endParaRPr lang="ru-RU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755576" y="1582341"/>
            <a:ext cx="7272808" cy="14957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14000"/>
              </a:lnSpc>
            </a:pP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1. использование </a:t>
            </a:r>
            <a:r>
              <a:rPr lang="ru-RU" sz="2000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фреймворка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 Django (Python) для backend-разработки;</a:t>
            </a:r>
          </a:p>
          <a:p>
            <a:pPr indent="457200">
              <a:lnSpc>
                <a:spcPct val="114000"/>
              </a:lnSpc>
            </a:pP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2. SQLite в качестве системы управления базами данных;</a:t>
            </a:r>
          </a:p>
          <a:p>
            <a:pPr indent="457200">
              <a:lnSpc>
                <a:spcPct val="114000"/>
              </a:lnSpc>
            </a:pP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3. HTML/CSS для </a:t>
            </a:r>
            <a:r>
              <a:rPr lang="ru-RU" sz="2000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фронтенда</a:t>
            </a:r>
            <a:r>
              <a:rPr lang="ru-RU" sz="20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1404696" y="536881"/>
            <a:ext cx="6334608" cy="5878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ctr"/>
            <a:r>
              <a:rPr lang="ru-RU" sz="3200" b="1" spc="0" dirty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Технические </a:t>
            </a:r>
            <a:r>
              <a:rPr lang="ru-RU" sz="3200" b="1" spc="0" dirty="0" smtClean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требования</a:t>
            </a:r>
            <a:endParaRPr lang="ru-RU" sz="3200" b="1" spc="0" dirty="0"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8" name="Номер слайда 6"/>
          <p:cNvSpPr txBox="1">
            <a:spLocks/>
          </p:cNvSpPr>
          <p:nvPr/>
        </p:nvSpPr>
        <p:spPr>
          <a:xfrm>
            <a:off x="315468" y="6341194"/>
            <a:ext cx="3429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 cap="all" spc="200" baseline="0">
                <a:solidFill>
                  <a:schemeClr val="accent1"/>
                </a:solidFill>
                <a:latin typeface="Posterama" panose="020B0504020200020000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00BE8F9-7FB6-48D9-941E-585FA1C8C28D}" type="slidenum">
              <a:rPr lang="ru-RU" sz="14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pPr/>
              <a:t>10</a:t>
            </a:fld>
            <a:endParaRPr lang="ru-RU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08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1404696" y="536881"/>
            <a:ext cx="6334608" cy="5878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ctr"/>
            <a:r>
              <a:rPr lang="ru-RU" sz="2800" b="1" spc="0" dirty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Структурная схема программного продукта </a:t>
            </a:r>
            <a:endParaRPr lang="ru-RU" sz="2800" b="1" spc="0" dirty="0"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8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315468" y="6341194"/>
            <a:ext cx="342900" cy="184150"/>
          </a:xfrm>
        </p:spPr>
        <p:txBody>
          <a:bodyPr/>
          <a:lstStyle/>
          <a:p>
            <a:fld id="{600BE8F9-7FB6-48D9-941E-585FA1C8C28D}" type="slidenum">
              <a:rPr lang="ru-RU" sz="14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11</a:t>
            </a:fld>
            <a:endParaRPr lang="ru-RU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9" name="Рисунок 8"/>
          <p:cNvPicPr/>
          <p:nvPr/>
        </p:nvPicPr>
        <p:blipFill>
          <a:blip r:embed="rId3"/>
          <a:stretch>
            <a:fillRect/>
          </a:stretch>
        </p:blipFill>
        <p:spPr>
          <a:xfrm>
            <a:off x="1345752" y="1772816"/>
            <a:ext cx="6452497" cy="419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344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Прямоугольник 9"/>
          <p:cNvSpPr/>
          <p:nvPr/>
        </p:nvSpPr>
        <p:spPr>
          <a:xfrm>
            <a:off x="755576" y="1582341"/>
            <a:ext cx="7272808" cy="2548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14000"/>
              </a:lnSpc>
            </a:pP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База данных разрабатываемого приложения построена на реляционной модели с использованием SQLite. В процессе проектирования было выделено 14 основных сущностей, между которыми установлены необходимые связи</a:t>
            </a:r>
            <a:r>
              <a:rPr lang="ru-RU" sz="20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.</a:t>
            </a:r>
          </a:p>
          <a:p>
            <a:pPr indent="457200">
              <a:lnSpc>
                <a:spcPct val="114000"/>
              </a:lnSpc>
            </a:pP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Система регистрации и авторизации реализована с использованием встроенного модуля Django </a:t>
            </a:r>
            <a:r>
              <a:rPr lang="ru-RU" sz="2000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Authentication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, расширенного для работы с </a:t>
            </a:r>
            <a:r>
              <a:rPr lang="ru-RU" sz="2000" dirty="0" err="1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кастомной</a:t>
            </a:r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 моделью пользователя</a:t>
            </a:r>
            <a:r>
              <a:rPr lang="ru-RU" sz="2000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1404696" y="536881"/>
            <a:ext cx="6334608" cy="5878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ctr"/>
            <a:r>
              <a:rPr lang="ru-RU" sz="3200" b="1" spc="0" dirty="0" smtClean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БД и регистрация</a:t>
            </a:r>
            <a:endParaRPr lang="ru-RU" sz="3200" b="1" spc="0" dirty="0"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12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315468" y="6341194"/>
            <a:ext cx="342900" cy="184150"/>
          </a:xfrm>
        </p:spPr>
        <p:txBody>
          <a:bodyPr/>
          <a:lstStyle/>
          <a:p>
            <a:fld id="{600BE8F9-7FB6-48D9-941E-585FA1C8C28D}" type="slidenum">
              <a:rPr lang="ru-RU" sz="14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12</a:t>
            </a:fld>
            <a:endParaRPr lang="ru-RU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277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315468" y="6341194"/>
            <a:ext cx="342900" cy="184150"/>
          </a:xfrm>
        </p:spPr>
        <p:txBody>
          <a:bodyPr/>
          <a:lstStyle/>
          <a:p>
            <a:fld id="{600BE8F9-7FB6-48D9-941E-585FA1C8C28D}" type="slidenum">
              <a:rPr lang="ru-RU" sz="14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13</a:t>
            </a:fld>
            <a:endParaRPr lang="ru-RU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3" name="Рисунок 12"/>
          <p:cNvPicPr/>
          <p:nvPr/>
        </p:nvPicPr>
        <p:blipFill rotWithShape="1">
          <a:blip r:embed="rId3"/>
          <a:srcRect t="8807" r="1180"/>
          <a:stretch/>
        </p:blipFill>
        <p:spPr bwMode="auto">
          <a:xfrm>
            <a:off x="539552" y="1124744"/>
            <a:ext cx="8208912" cy="45365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Заголовок 1"/>
          <p:cNvSpPr txBox="1">
            <a:spLocks/>
          </p:cNvSpPr>
          <p:nvPr/>
        </p:nvSpPr>
        <p:spPr>
          <a:xfrm>
            <a:off x="899592" y="536881"/>
            <a:ext cx="7416824" cy="5878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ctr"/>
            <a:r>
              <a:rPr lang="ru-RU" sz="2800" b="1" spc="0" dirty="0" smtClean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Главная </a:t>
            </a:r>
            <a:endParaRPr lang="ru-RU" sz="2800" b="1" spc="0" dirty="0"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300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Рисунок 6"/>
          <p:cNvPicPr/>
          <p:nvPr/>
        </p:nvPicPr>
        <p:blipFill rotWithShape="1">
          <a:blip r:embed="rId3"/>
          <a:srcRect l="28520" r="29788"/>
          <a:stretch/>
        </p:blipFill>
        <p:spPr bwMode="auto">
          <a:xfrm>
            <a:off x="2158948" y="1162422"/>
            <a:ext cx="4826105" cy="514689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Заголовок 1"/>
          <p:cNvSpPr txBox="1">
            <a:spLocks/>
          </p:cNvSpPr>
          <p:nvPr/>
        </p:nvSpPr>
        <p:spPr>
          <a:xfrm>
            <a:off x="899592" y="536881"/>
            <a:ext cx="7416824" cy="5878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ctr"/>
            <a:r>
              <a:rPr lang="ru-RU" sz="2800" b="1" spc="0" dirty="0" smtClean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Регистрация</a:t>
            </a:r>
            <a:endParaRPr lang="ru-RU" sz="2800" b="1" spc="0" dirty="0"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9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315468" y="6341194"/>
            <a:ext cx="342900" cy="184150"/>
          </a:xfrm>
        </p:spPr>
        <p:txBody>
          <a:bodyPr/>
          <a:lstStyle/>
          <a:p>
            <a:fld id="{600BE8F9-7FB6-48D9-941E-585FA1C8C28D}" type="slidenum">
              <a:rPr lang="ru-RU" sz="14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14</a:t>
            </a:fld>
            <a:endParaRPr lang="ru-RU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5496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467544" y="1268760"/>
            <a:ext cx="8208912" cy="4752528"/>
          </a:xfrm>
          <a:prstGeom prst="rect">
            <a:avLst/>
          </a:prstGeom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315468" y="6341194"/>
            <a:ext cx="342900" cy="184150"/>
          </a:xfrm>
        </p:spPr>
        <p:txBody>
          <a:bodyPr/>
          <a:lstStyle/>
          <a:p>
            <a:fld id="{600BE8F9-7FB6-48D9-941E-585FA1C8C28D}" type="slidenum">
              <a:rPr lang="ru-RU" sz="14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15</a:t>
            </a:fld>
            <a:endParaRPr lang="ru-RU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899592" y="536881"/>
            <a:ext cx="7416824" cy="58786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spc="300" baseline="0">
                <a:solidFill>
                  <a:schemeClr val="tx1"/>
                </a:solidFill>
                <a:latin typeface="+mj-lt"/>
                <a:ea typeface="+mj-ea"/>
                <a:cs typeface="Posterama" panose="020B0504020200020000" pitchFamily="34" charset="0"/>
              </a:defRPr>
            </a:lvl1pPr>
          </a:lstStyle>
          <a:p>
            <a:pPr algn="ctr"/>
            <a:r>
              <a:rPr lang="ru-RU" sz="2800" b="1" spc="0" dirty="0" smtClean="0">
                <a:latin typeface="Times New Roman" panose="02020603050405020304" pitchFamily="18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Турниры</a:t>
            </a:r>
            <a:endParaRPr lang="ru-RU" sz="2800" b="1" spc="0" dirty="0">
              <a:latin typeface="Times New Roman" panose="02020603050405020304" pitchFamily="18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28575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Scientific discovery_V1_win32_EF_v3" id="{70008AEC-EDED-4511-BBCB-3094E155874B}" vid="{20F39DC6-8556-4458-8AAA-5D2B51347CD2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Scientific discovery</Template>
  <TotalTime>739</TotalTime>
  <Words>571</Words>
  <Application>Microsoft Office PowerPoint</Application>
  <PresentationFormat>Экран (4:3)</PresentationFormat>
  <Paragraphs>67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Custom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burova_katya@outlook.com</dc:creator>
  <cp:lastModifiedBy>burova_katya@outlook.com</cp:lastModifiedBy>
  <cp:revision>33</cp:revision>
  <dcterms:created xsi:type="dcterms:W3CDTF">2024-12-01T12:12:24Z</dcterms:created>
  <dcterms:modified xsi:type="dcterms:W3CDTF">2026-04-07T16:47:58Z</dcterms:modified>
</cp:coreProperties>
</file>